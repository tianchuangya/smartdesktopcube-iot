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7b291a9b934209" /><Relationship Type="http://schemas.openxmlformats.org/officeDocument/2006/relationships/extended-properties" Target="/docProps/app.xml" Id="Rb350566caab14f9c" /><Relationship Type="http://schemas.openxmlformats.org/officeDocument/2006/relationships/officeDocument" Target="/ppt/presentation.xml" Id="R668c698a242547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0ee38c616477a"/>
  </p:sldMasterIdLst>
  <p:notesMasterIdLst>
    <p:notesMasterId xmlns:r="http://schemas.openxmlformats.org/officeDocument/2006/relationships" r:id="R7b37a183225d43f7"/>
  </p:notesMasterIdLst>
  <p:sldIdLst>
    <p:sldId xmlns:r="http://schemas.openxmlformats.org/officeDocument/2006/relationships" id="256" r:id="R17cab04f903646b4"/>
    <p:sldId xmlns:r="http://schemas.openxmlformats.org/officeDocument/2006/relationships" id="257" r:id="Ra1dd6ea0d02644c7"/>
    <p:sldId xmlns:r="http://schemas.openxmlformats.org/officeDocument/2006/relationships" id="258" r:id="R7aeeebb8c48f4d0a"/>
    <p:sldId xmlns:r="http://schemas.openxmlformats.org/officeDocument/2006/relationships" id="259" r:id="R04231f1d24e9491d"/>
    <p:sldId xmlns:r="http://schemas.openxmlformats.org/officeDocument/2006/relationships" id="260" r:id="Rf610e4d3b8ca4077"/>
    <p:sldId xmlns:r="http://schemas.openxmlformats.org/officeDocument/2006/relationships" id="261" r:id="R2891d76cee6746d9"/>
    <p:sldId xmlns:r="http://schemas.openxmlformats.org/officeDocument/2006/relationships" id="262" r:id="Rfd43da85f2ef4244"/>
    <p:sldId xmlns:r="http://schemas.openxmlformats.org/officeDocument/2006/relationships" id="263" r:id="R52e2e62c2bdc4ea5"/>
    <p:sldId xmlns:r="http://schemas.openxmlformats.org/officeDocument/2006/relationships" id="264" r:id="Re357ddf198534614"/>
    <p:sldId xmlns:r="http://schemas.openxmlformats.org/officeDocument/2006/relationships" id="265" r:id="R33343078b040493c"/>
    <p:sldId xmlns:r="http://schemas.openxmlformats.org/officeDocument/2006/relationships" id="266" r:id="R6c48dd2524644b9a"/>
    <p:sldId xmlns:r="http://schemas.openxmlformats.org/officeDocument/2006/relationships" id="267" r:id="Rd230c42f5b364915"/>
    <p:sldId xmlns:r="http://schemas.openxmlformats.org/officeDocument/2006/relationships" id="268" r:id="R9eb1d5ef4ee843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8fff6031c45e4" /><Relationship Type="http://schemas.openxmlformats.org/officeDocument/2006/relationships/slideMaster" Target="/ppt/slideMasters/slideMaster1.xml" Id="R70f0ee38c616477a" /><Relationship Type="http://schemas.openxmlformats.org/officeDocument/2006/relationships/notesMaster" Target="/ppt/notesMasters/notesMaster1.xml" Id="R7b37a183225d43f7" /><Relationship Type="http://schemas.openxmlformats.org/officeDocument/2006/relationships/presProps" Target="/ppt/presProps.xml" Id="R38901488bfb94c84" /><Relationship Type="http://schemas.openxmlformats.org/officeDocument/2006/relationships/tableStyles" Target="/ppt/tableStyles.xml" Id="R65a09de5d3794d7d" /><Relationship Type="http://schemas.openxmlformats.org/officeDocument/2006/relationships/slide" Target="/ppt/slides/slide1.xml" Id="R17cab04f903646b4" /><Relationship Type="http://schemas.openxmlformats.org/officeDocument/2006/relationships/slide" Target="/ppt/slides/slide2.xml" Id="Ra1dd6ea0d02644c7" /><Relationship Type="http://schemas.openxmlformats.org/officeDocument/2006/relationships/slide" Target="/ppt/slides/slide3.xml" Id="R7aeeebb8c48f4d0a" /><Relationship Type="http://schemas.openxmlformats.org/officeDocument/2006/relationships/slide" Target="/ppt/slides/slide4.xml" Id="R04231f1d24e9491d" /><Relationship Type="http://schemas.openxmlformats.org/officeDocument/2006/relationships/slide" Target="/ppt/slides/slide5.xml" Id="Rf610e4d3b8ca4077" /><Relationship Type="http://schemas.openxmlformats.org/officeDocument/2006/relationships/slide" Target="/ppt/slides/slide6.xml" Id="R2891d76cee6746d9" /><Relationship Type="http://schemas.openxmlformats.org/officeDocument/2006/relationships/slide" Target="/ppt/slides/slide7.xml" Id="Rfd43da85f2ef4244" /><Relationship Type="http://schemas.openxmlformats.org/officeDocument/2006/relationships/slide" Target="/ppt/slides/slide8.xml" Id="R52e2e62c2bdc4ea5" /><Relationship Type="http://schemas.openxmlformats.org/officeDocument/2006/relationships/slide" Target="/ppt/slides/slide9.xml" Id="Re357ddf198534614" /><Relationship Type="http://schemas.openxmlformats.org/officeDocument/2006/relationships/slide" Target="/ppt/slides/slide10.xml" Id="R33343078b040493c" /><Relationship Type="http://schemas.openxmlformats.org/officeDocument/2006/relationships/slide" Target="/ppt/slides/slide11.xml" Id="R6c48dd2524644b9a" /><Relationship Type="http://schemas.openxmlformats.org/officeDocument/2006/relationships/slide" Target="/ppt/slides/slide12.xml" Id="Rd230c42f5b364915" /><Relationship Type="http://schemas.openxmlformats.org/officeDocument/2006/relationships/slide" Target="/ppt/slides/slide13.xml" Id="R9eb1d5ef4ee8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4f5b72ee7a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c20d91734489b" /><Relationship Type="http://schemas.openxmlformats.org/officeDocument/2006/relationships/notesMaster" Target="/ppt/notesMasters/notesMaster1.xml" Id="Raa9986d273f3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200b7425ff4359" /><Relationship Type="http://schemas.openxmlformats.org/officeDocument/2006/relationships/notesMaster" Target="/ppt/notesMasters/notesMaster1.xml" Id="Rb80ff596f15d42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c2bd7493f430d" /><Relationship Type="http://schemas.openxmlformats.org/officeDocument/2006/relationships/notesMaster" Target="/ppt/notesMasters/notesMaster1.xml" Id="Ra68f2925362245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867b8111714b22" /><Relationship Type="http://schemas.openxmlformats.org/officeDocument/2006/relationships/notesMaster" Target="/ppt/notesMasters/notesMaster1.xml" Id="R218911618bbe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9db489957e4f8f" /><Relationship Type="http://schemas.openxmlformats.org/officeDocument/2006/relationships/notesMaster" Target="/ppt/notesMasters/notesMaster1.xml" Id="R93cfa4960087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8f6147b43e4d4e" /><Relationship Type="http://schemas.openxmlformats.org/officeDocument/2006/relationships/notesMaster" Target="/ppt/notesMasters/notesMaster1.xml" Id="Re0efcfb747bd41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92181ba5d04078" /><Relationship Type="http://schemas.openxmlformats.org/officeDocument/2006/relationships/notesMaster" Target="/ppt/notesMasters/notesMaster1.xml" Id="R3d19009e689c43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b1ff355754d07" /><Relationship Type="http://schemas.openxmlformats.org/officeDocument/2006/relationships/notesMaster" Target="/ppt/notesMasters/notesMaster1.xml" Id="R787db87e303f46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edb1956c114002" /><Relationship Type="http://schemas.openxmlformats.org/officeDocument/2006/relationships/notesMaster" Target="/ppt/notesMasters/notesMaster1.xml" Id="R5c56c69ad01645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bfcef088024aa7" /><Relationship Type="http://schemas.openxmlformats.org/officeDocument/2006/relationships/notesMaster" Target="/ppt/notesMasters/notesMaster1.xml" Id="R0464e8b6bd2243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2efd85504543e0" /><Relationship Type="http://schemas.openxmlformats.org/officeDocument/2006/relationships/notesMaster" Target="/ppt/notesMasters/notesMaster1.xml" Id="Ra57b94c2dde643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45561842ba4c3f" /><Relationship Type="http://schemas.openxmlformats.org/officeDocument/2006/relationships/notesMaster" Target="/ppt/notesMasters/notesMaster1.xml" Id="R6d1ffd70a01341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cadc54b1d54745" /><Relationship Type="http://schemas.openxmlformats.org/officeDocument/2006/relationships/notesMaster" Target="/ppt/notesMasters/notesMaster1.xml" Id="R382c8ef91389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封面只建立项目识别，不展开技术细节。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本页回答为什么要做，不和普通温湿度计停留在同一层面。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本页建立系统边界，让评委知道不是单片机孤立作品。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这里可以说明硬件尺寸来自关于硬件.docx，外壳设计已考虑杜邦线和接口对齐。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强调工程稳定性，避免只讲传感器接线。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后端当前 MVP 已覆盖认证、设备、数据、控制、OTA、AI 分析等测试。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本页回答用户之前强调的三类人群网页样式和浮动式加载动画。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强调名称为小眠，定位是二次元角色状态及菜单向导。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这里可结合 Blender 模型或 3D 打印件说明结构迭代。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建议实际答辩前录一份完整视频，现场演示失败立即切视频或演示数据。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创新点应避免写成空泛口号，每一点都能对应代码、文档或模型。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本页用于防止评委追问当前完成范围，把预留接口和已完成能力分清。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收尾不只说谢谢，要再次落回项目定位。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项目设计文档：作品提交/2026年全国大学生物联网设计竞设计文档.docx</a:t>
            </a:r>
          </a:p>
          <a:p xmlns:a="http://schemas.openxmlformats.org/drawingml/2006/main">
            <a:r>
              <a:t>硬件尺寸与引脚：关于硬件.docx</a:t>
            </a:r>
          </a:p>
          <a:p xmlns:a="http://schemas.openxmlformats.org/drawingml/2006/main">
            <a:r>
              <a:t>后端能力：cube-backend/README.md</a:t>
            </a:r>
          </a:p>
          <a:p xmlns:a="http://schemas.openxmlformats.org/drawingml/2006/main">
            <a:r>
              <a:t>前端能力：cube-tianmu/README.md</a:t>
            </a:r>
          </a:p>
          <a:p xmlns:a="http://schemas.openxmlformats.org/drawingml/2006/main">
            <a:r>
              <a:t>角色交互：AboutUI/智能桌面魔方 二次元角色状态及菜单向导设计文档.docx</a:t>
            </a:r>
          </a:p>
          <a:p xmlns:a="http://schemas.openxmlformats.org/drawingml/2006/main">
            <a:r>
              <a:t>结构模型：case_design/smart_cube_shell_current_preview.blend 与 current STLs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382fda5664d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068880d8534150" /><Relationship Type="http://schemas.openxmlformats.org/officeDocument/2006/relationships/slideLayout" Target="/ppt/slideLayouts/slideLayout1.xml" Id="R2d9c13a40b1445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c13a40b1445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81e8de27946eb" /><Relationship Type="http://schemas.openxmlformats.org/officeDocument/2006/relationships/image" Target="/ppt/media/image.jpeg" Id="Rb874f82362854c15" /><Relationship Type="http://schemas.openxmlformats.org/officeDocument/2006/relationships/image" Target="/ppt/media/image.png" Id="Rb50036af350c4ab3" /><Relationship Type="http://schemas.openxmlformats.org/officeDocument/2006/relationships/notesSlide" Target="/ppt/notesSlides/notesSlide1.xml" Id="Ra8ffab46e812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8ff6b70234bf2" /><Relationship Type="http://schemas.openxmlformats.org/officeDocument/2006/relationships/notesSlide" Target="/ppt/notesSlides/notesSlide2.xml" Id="Rd018dedf0ff240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c69cfcf8d4530" /><Relationship Type="http://schemas.openxmlformats.org/officeDocument/2006/relationships/notesSlide" Target="/ppt/notesSlides/notesSlide3.xml" Id="R7c7e6465f25e45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972c6cfb84095" /><Relationship Type="http://schemas.openxmlformats.org/officeDocument/2006/relationships/notesSlide" Target="/ppt/notesSlides/notesSlide4.xml" Id="R14061970e4cc4b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50ef1e1f5435f" /><Relationship Type="http://schemas.openxmlformats.org/officeDocument/2006/relationships/notesSlide" Target="/ppt/notesSlides/notesSlide5.xml" Id="Rc7ea7e92057e48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2e25ee8564037" /><Relationship Type="http://schemas.openxmlformats.org/officeDocument/2006/relationships/notesSlide" Target="/ppt/notesSlides/notesSlide6.xml" Id="R61ee06a0c9ea45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005ee0e2541b2" /><Relationship Type="http://schemas.openxmlformats.org/officeDocument/2006/relationships/image" Target="/ppt/media/image2.jpeg" Id="Rb21838194b6740bd" /><Relationship Type="http://schemas.openxmlformats.org/officeDocument/2006/relationships/notesSlide" Target="/ppt/notesSlides/notesSlide7.xml" Id="Rd452555ce559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e6d99a28148fe" /><Relationship Type="http://schemas.openxmlformats.org/officeDocument/2006/relationships/image" Target="/ppt/media/image2.png" Id="R5e395ee4c416478a" /><Relationship Type="http://schemas.openxmlformats.org/officeDocument/2006/relationships/image" Target="/ppt/media/image3.png" Id="R7b0c53f0511b4837" /><Relationship Type="http://schemas.openxmlformats.org/officeDocument/2006/relationships/image" Target="/ppt/media/image4.png" Id="Rbaf8cad513034a2a" /><Relationship Type="http://schemas.openxmlformats.org/officeDocument/2006/relationships/notesSlide" Target="/ppt/notesSlides/notesSlide8.xml" Id="R0be623af035e4a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09b6e5f10493d" /><Relationship Type="http://schemas.openxmlformats.org/officeDocument/2006/relationships/image" Target="/ppt/media/image5.png" Id="Rb2df53d166f644cd" /><Relationship Type="http://schemas.openxmlformats.org/officeDocument/2006/relationships/notesSlide" Target="/ppt/notesSlides/notesSlide9.xml" Id="Rda9cf9c355474f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4a4b1c57f4864" /><Relationship Type="http://schemas.openxmlformats.org/officeDocument/2006/relationships/notesSlide" Target="/ppt/notesSlides/notesSlide10.xml" Id="R69cb3a4aa490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cc7390a52442e" /><Relationship Type="http://schemas.openxmlformats.org/officeDocument/2006/relationships/notesSlide" Target="/ppt/notesSlides/notesSlide11.xml" Id="R1832e5091c384c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82abdd89d42d6" /><Relationship Type="http://schemas.openxmlformats.org/officeDocument/2006/relationships/notesSlide" Target="/ppt/notesSlides/notesSlide12.xml" Id="Rbec8783fa7a949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148860f8c45b8" /><Relationship Type="http://schemas.openxmlformats.org/officeDocument/2006/relationships/image" Target="/ppt/media/image3.jpeg" Id="Ra9be5a58689743c9" /><Relationship Type="http://schemas.openxmlformats.org/officeDocument/2006/relationships/notesSlide" Target="/ppt/notesSlides/notesSlide13.xml" Id="R172c31f0eefe4f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87488-40E7-47FB-AC0F-DF1FD770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6A189-E272-445F-A488-A595F11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2DF56-7C7C-4077-8471-03C9B623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8FAFC"/>
                </a:solidFill>
              </a:defRPr>
            </a:pPr>
            <a:r>
              <a:rPr sz="4500" b="1">
                <a:solidFill>
                  <a:srgbClr val="F8FAFC"/>
                </a:solidFill>
              </a:rPr>
              <a:t>智能桌面魔方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67C02-2077-43BD-B7E6-2CBE529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2D9FF"/>
                </a:solidFill>
              </a:defRPr>
            </a:pPr>
            <a:r>
              <a:rPr sz="2250" b="1">
                <a:solidFill>
                  <a:srgbClr val="42D9FF"/>
                </a:solidFill>
              </a:rPr>
              <a:t>Smart Desktop Cube 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55C61-DD97-4590-AE70-06E8619D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7"/>
                </a:solidFill>
              </a:defRPr>
            </a:pPr>
            <a:r>
              <a:rPr sz="1725" b="0">
                <a:solidFill>
                  <a:srgbClr val="A7B3C7"/>
                </a:solidFill>
              </a:rPr>
              <a:t>基于 ESP32-S3 的桌面环境感知、专注辅助与云端管理终端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696CB-3E2B-453F-A93C-75D339CA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2036"/>
          </a:solidFill>
          <a:ln xmlns:a="http://schemas.openxmlformats.org/drawingml/2006/main" w="9525">
            <a:solidFill>
              <a:srgbClr val="42D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D9FF"/>
                </a:solidFill>
              </a:defRPr>
            </a:pPr>
            <a:r>
              <a:rPr sz="1275" b="1">
                <a:solidFill>
                  <a:srgbClr val="42D9FF"/>
                </a:solidFill>
              </a:rPr>
              <a:t>全国大学生物联网设计竞赛 · 答辩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4f82362854c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857250"/>
            <a:ext cx="2857500" cy="2857500"/>
          </a:xfrm>
          <a:prstGeom xmlns:a="http://schemas.openxmlformats.org/drawingml/2006/main" prst="ellipse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036af350c4ab3"/>
          <a:srcRect xmlns:a="http://schemas.openxmlformats.org/drawingml/2006/main" l="0" t="5455" r="0" b="5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3857625"/>
            <a:ext cx="4191000" cy="2333625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C6EAC-2FFF-4FE8-BDB6-F944608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7"/>
                </a:solidFill>
              </a:defRPr>
            </a:pPr>
            <a:r>
              <a:rPr sz="1500" b="0">
                <a:solidFill>
                  <a:srgbClr val="A7B3C7"/>
                </a:solidFill>
              </a:rPr>
              <a:t>角色交互：小眠  |  硬件结构：模块化外壳 v25</a:t>
            </a:r>
          </a:p>
        </p:txBody>
      </p:sp>
    </p:spTree>
    <p:extLst>
      <p:ext uri="{BB962C8B-B14F-4D97-AF65-F5344CB8AC3E}">
        <p14:creationId xmlns:p14="http://schemas.microsoft.com/office/powerpoint/2010/main" val="558608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CA7E4-990F-4C83-8E9E-2E2A17B6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23DF2-46BF-4EAC-A2F2-CB401DD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CC777-0417-4282-A2E1-9BAAE04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01 需求背景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2E1C3-7447-4449-AEAA-FE07DA08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桌面环境问题不是缺少数字，而是缺少判断和行动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3D04B-6DFF-4F57-B6BC-D9922D3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143250" cy="3429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8A0AB-4F51-4AF1-9605-9604899C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3143250" cy="3429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FC77E-91A3-4028-B24C-2BE83B97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143250" cy="3429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EB967-F629-424E-ACD4-CBC4E90D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2D9FF"/>
                </a:solidFill>
              </a:defRPr>
            </a:pPr>
            <a:r>
              <a:rPr sz="2250" b="1">
                <a:solidFill>
                  <a:srgbClr val="42D9FF"/>
                </a:solidFill>
              </a:rPr>
              <a:t>环境不可见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433C8-9D1F-48CA-9A5A-A3FCD91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温湿度、eCO2、TVOC、光照与人体存在变化难以长期感知。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0C8CD-BCE1-485D-877A-F5E00560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2D9FF"/>
                </a:solidFill>
              </a:defRPr>
            </a:pPr>
            <a:r>
              <a:rPr sz="2250" b="1">
                <a:solidFill>
                  <a:srgbClr val="42D9FF"/>
                </a:solidFill>
              </a:rPr>
              <a:t>设备不闭环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0FF55-7311-4C33-88CF-966C657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194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传统设备多停留在数据显示，缺少提醒、记录、远程管理和联动。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6AE0A-2036-4A12-9054-B6AE720B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2D9FF"/>
                </a:solidFill>
              </a:defRPr>
            </a:pPr>
            <a:r>
              <a:rPr sz="2250" b="1">
                <a:solidFill>
                  <a:srgbClr val="42D9FF"/>
                </a:solidFill>
              </a:rPr>
              <a:t>演示不稳定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1CB68-445B-4CE5-BE5C-063B8861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竞赛作品必须解决联网、鉴权、OTA、外壳固定和现场可维护性。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BEF2F-D92D-4270-84B0-12E890C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目标：把桌面传感器做成一个可交互、可管理、可演示的 IoT 终端。</a:t>
            </a:r>
          </a:p>
        </p:txBody>
      </p:sp>
    </p:spTree>
    <p:extLst>
      <p:ext uri="{BB962C8B-B14F-4D97-AF65-F5344CB8AC3E}">
        <p14:creationId xmlns:p14="http://schemas.microsoft.com/office/powerpoint/2010/main" val="351668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53224-1588-4D52-8A18-BD4958D7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6FA2C-6333-4BAC-A9CF-36E1DD94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5A5A-88FF-4E74-ACEA-F84B38ED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02 总体架构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47D03-FE28-4EB7-B14C-9874AC7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系统按“设备端、后端、前端、角色交互”形成闭环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6ED4E-7CB5-4ADE-925F-D929DA86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01098-70F4-48FF-B7C5-D3689E7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D9FF"/>
                </a:solidFill>
              </a:defRPr>
            </a:pPr>
            <a:r>
              <a:rPr sz="1575" b="1">
                <a:solidFill>
                  <a:srgbClr val="42D9FF"/>
                </a:solidFill>
              </a:rPr>
              <a:t>感知层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92C22-084E-408B-A761-EDC57B0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ENS160+AHT21 / BH1750 / LD2410C / 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3EA90-04CB-4B07-8A9C-0CCE590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076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CF59E-93F4-4B00-BEDD-1ECC0C1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79070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A9A1E-802F-44F6-AB16-D321C7BB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196215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C55E"/>
                </a:solidFill>
              </a:defRPr>
            </a:pPr>
            <a:r>
              <a:rPr sz="1575" b="1">
                <a:solidFill>
                  <a:srgbClr val="22C55E"/>
                </a:solidFill>
              </a:rPr>
              <a:t>设备端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37389-0BFC-47D4-959A-F77A1EF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28600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ESP32-S3 双核任务 + LVGL + MQTT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85554-CA30-4B48-8D77-2CD0A8F3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2076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1048E-DC99-46F5-87B9-8A3409A3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179070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7CFCC-A302-4FAA-B235-8E4851A4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6215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D9FF"/>
                </a:solidFill>
              </a:defRPr>
            </a:pPr>
            <a:r>
              <a:rPr sz="1575" b="1">
                <a:solidFill>
                  <a:srgbClr val="42D9FF"/>
                </a:solidFill>
              </a:rPr>
              <a:t>服务层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8956B-D055-4A85-AAD1-35A32BE5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28600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FastAPI + SQLite + MQTT + WebSocket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35569-34C8-4A93-9696-89FE620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076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C343B-FEE5-43A0-ADD9-8A03127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9070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60594-EFA0-4174-ACF5-E1B1EA5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196215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C55E"/>
                </a:solidFill>
              </a:defRPr>
            </a:pPr>
            <a:r>
              <a:rPr sz="1575" b="1">
                <a:solidFill>
                  <a:srgbClr val="22C55E"/>
                </a:solidFill>
              </a:rPr>
              <a:t>应用层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29D70-1956-4843-BA6B-00E1914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28600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三套前端 + AI 分析 + 日志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E6A68-1050-4D25-9093-C6461418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076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1BC3F-2611-403C-9D0B-0252CF9B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179070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C5110-46F5-47DC-9ABA-505A277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196215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D9FF"/>
                </a:solidFill>
              </a:defRPr>
            </a:pPr>
            <a:r>
              <a:rPr sz="1575" b="1">
                <a:solidFill>
                  <a:srgbClr val="42D9FF"/>
                </a:solidFill>
              </a:rPr>
              <a:t>交互层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2F456-E1B2-453A-9C75-013F4D4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228600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小眠状态反馈与菜单向导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AF212-D567-443F-BADF-B4090581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60CB0-34C7-4309-AC4B-817FE116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81400"/>
            <a:ext cx="887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</a:defRPr>
            </a:pPr>
            <a:r>
              <a:rPr sz="1725" b="0">
                <a:solidFill>
                  <a:srgbClr val="F8FAFC"/>
                </a:solidFill>
              </a:rPr>
              <a:t>硬件端负责实时采集、屏幕显示、专注状态判断和设备通信。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9A4C9-BB04-45C5-813E-DC6C6D4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588E6-E026-4C58-81C0-B6903396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76700"/>
            <a:ext cx="887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</a:defRPr>
            </a:pPr>
            <a:r>
              <a:rPr sz="1725" b="0">
                <a:solidFill>
                  <a:srgbClr val="F8FAFC"/>
                </a:solidFill>
              </a:rPr>
              <a:t>后端负责认证、设备数据、控制指令、OTA、AI 分析与 WebSocket 推送。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7F21A-51F7-4322-B9C1-967B73EC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027A2-4541-4ACB-B589-0055688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87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</a:defRPr>
            </a:pPr>
            <a:r>
              <a:rPr sz="1725" b="0">
                <a:solidFill>
                  <a:srgbClr val="F8FAFC"/>
                </a:solidFill>
              </a:rPr>
              <a:t>前端面向不同用户群体提供轻量查看、长辈模式和完整控制台。</a:t>
            </a:r>
          </a:p>
        </p:txBody>
      </p:sp>
    </p:spTree>
    <p:extLst>
      <p:ext uri="{BB962C8B-B14F-4D97-AF65-F5344CB8AC3E}">
        <p14:creationId xmlns:p14="http://schemas.microsoft.com/office/powerpoint/2010/main" val="1544392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3CA10-80AE-4009-B5A9-17766BF9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1197F-42DF-44E5-ABFD-9BA0222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08BDE-4DBA-4393-A3DD-5BC10BF9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03 硬件方案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0266C-33FF-4F48-A693-6EE7F23A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硬件选型覆盖空气、光照、人体存在和本地显示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5603D-DAD8-4DA3-B063-42477EF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95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A54CA-4526-49DB-BD94-D350A2D7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ESP32-S3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AE48F-FF9C-40C1-9681-BC8ADA1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主控、WiFi、双核任务、OTA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2E824-DFC8-40E2-8F3B-17152B18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495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41DE-5602-4523-971A-4E65E73A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ENS160 + AHT21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CE230-A2FE-46A0-A70F-1CAE7EB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eCO2、TVOC、AQI、温湿度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EAAB3-D670-4DB2-807F-0728B27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95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1D66F-9C54-4613-B7DD-FDC72FD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BH1750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D168A-AE4C-4D99-B4CF-EF58E660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光照强度，支持屏幕亮度和场景判断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4653C-F7F3-4677-927D-9CAF1C8F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495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AC883-9CE5-4379-A5E0-6698B9A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LD2410C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DCE34-EE2A-4CDB-B377-1991D173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毫米波人体存在检测，驱动专注模式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D706F-A4FD-40D0-B861-4A10BCE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95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EA71A-7BD0-43B5-B323-3F95A25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ILI9341 TFT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0A1DE-6A8A-4156-A429-F55E9C3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2.4 寸触控屏，本地数据与菜单显示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E033C-E132-41BD-B551-ED52C21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495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52BC4-03F6-4163-96A8-FF51417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DC 电源管理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F006C-57DA-4211-BDE5-C309641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5.5 x 2.1mm 输入，多路供电管理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2776B-AED0-49AE-86A7-BCA6990F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3C7"/>
                </a:solidFill>
              </a:defRPr>
            </a:pPr>
            <a:r>
              <a:rPr sz="1500" b="0">
                <a:solidFill>
                  <a:srgbClr val="A7B3C7"/>
                </a:solidFill>
              </a:rPr>
              <a:t>设计原则：模块尺寸按 PCB 与引脚占用预留安装余量，优先保证实物可塞入、线材可走、接口可插拔。</a:t>
            </a:r>
          </a:p>
        </p:txBody>
      </p:sp>
    </p:spTree>
    <p:extLst>
      <p:ext uri="{BB962C8B-B14F-4D97-AF65-F5344CB8AC3E}">
        <p14:creationId xmlns:p14="http://schemas.microsoft.com/office/powerpoint/2010/main" val="1681813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DDCE9-E019-420F-B85B-4FC4D29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69DED-FE20-45A6-BA8C-99F89BB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24781-7CB7-450D-AA01-954E25F3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04 嵌入式实现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378FD-EC7E-45FA-82A4-DEF28134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设备端把实时任务和网络任务分开，降低互相阻塞风险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CE49E-74AD-42CA-BC18-9CFF9326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762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FF582-526C-4685-9DE4-8BA39B1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762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998E3-9A43-4555-9AA1-D6EEA25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621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Core 1：实时与交互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1098B-F4E8-456B-8399-71C523B0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A34C5-2EE1-4FF4-8C79-E507E8C4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LVGL 屏幕渲染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39137-936A-4CDC-9956-1DFD69C7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7018E-FF26-44D0-B409-1279957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9562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传感器采集与数据更新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0CC2F-2F78-4608-A659-7C203FD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D927D-0F48-4698-B20E-8127A491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人体存在与专注状态判断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0AC71-0EB4-4698-BD85-B6482147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9A994-A35B-4695-8991-E21AC86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5287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角色状态与页面动画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03172-9C9E-4571-A620-C75920F1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2D9FF"/>
                </a:solidFill>
              </a:defRPr>
            </a:pPr>
            <a:r>
              <a:rPr sz="2250" b="1">
                <a:solidFill>
                  <a:srgbClr val="42D9FF"/>
                </a:solidFill>
              </a:rPr>
              <a:t>Core 0：网络与后台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D2E78-4408-4EB9-8038-0D249B64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FD2C1-B25A-42FF-A62B-23FB952F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WiFi / MQTT 通信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9F945-709E-426B-ACA5-8A690812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BC6D6-88CD-4BD3-B62C-0FCFECA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9562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设备握手、心跳、上报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F43FE-E9D4-40A9-A018-E8AB1B44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B50C9-DF77-4836-A090-7BA537C5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控制指令轮询与 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63F74-2845-48BA-A574-13F12ED1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465EB-64EC-4BB8-BE95-1D9EF2E0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5287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OTA 检查与更新流程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213EC1-6C6C-4C7A-8021-0F2B7709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关键约束：LVGL 渲染保持单线程边界，跨任务通过共享数据池传递状态。</a:t>
            </a:r>
          </a:p>
        </p:txBody>
      </p:sp>
    </p:spTree>
    <p:extLst>
      <p:ext uri="{BB962C8B-B14F-4D97-AF65-F5344CB8AC3E}">
        <p14:creationId xmlns:p14="http://schemas.microsoft.com/office/powerpoint/2010/main" val="334942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599DB1-2363-4B9C-957B-680CB006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0E092-E092-44C0-9E93-B024D345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23E81-5E02-4A9C-B6B5-1FBE1D0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05 后端能力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D958-070E-4F5C-A28A-EC5963F2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后端不只是收数据，还支撑演示、控制、安全和 OTA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C1EB9-DE19-4D95-B698-98BAE9D3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73656-1A16-4C09-9CD6-4AA05C54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认证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7F883-8C9A-42C2-9962-007EB47B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注册 / 登录 / JWT / 管理员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F604E-8A65-4E94-9EB2-552916D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981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36946-52FE-4A89-A6F3-39F702D2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69545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A80EC-5329-445A-A55F-79661F64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186690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设备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2FFD2-BE35-47CF-A9D2-30264F0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19075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握手 / 心跳 / 绑定 / 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06C92-02F6-4604-B1CE-49FAA0AA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1981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4AF7F-99E6-4F73-9786-39DFB6B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169545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527E4-1E10-49B4-ADC3-E9B0B1D3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6690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C34F0-1655-46E8-B43D-A8A85586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19075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最新数据 / 历史曲线 / 告警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69807-5633-4FB0-AC2E-7EC697DA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1981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B26B8-CC15-4A35-A4C5-1F11BC24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9545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9173A-DB2E-445A-B1D5-0910080E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186690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DCEA0-DA89-4C7E-B248-8C2B34B9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9075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指令下发 / 拉取 / 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F52A2-B5F6-4E39-862B-17265C94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981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E7806-134A-402E-82C0-6706A62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1695450"/>
            <a:ext cx="199263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C1E5D-75C9-4239-A72D-A81B6642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1866900"/>
            <a:ext cx="16878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OTA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FB6C9-9D6A-499C-BDC4-F39452A7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2190750"/>
            <a:ext cx="17640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固件上传 / MD5 / 回传结果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7F5B0-1460-4831-9D8F-8EAF0959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476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55F88-4997-4AC2-864E-29A3C4EE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9FF"/>
                </a:solidFill>
              </a:defRPr>
            </a:pPr>
            <a:r>
              <a:rPr sz="1875" b="1">
                <a:solidFill>
                  <a:srgbClr val="42D9FF"/>
                </a:solidFill>
              </a:rPr>
              <a:t>实时链路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38AF6-509C-45E3-BDEA-7CBC96B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WebSocket 推送传感器数据、设备状态、控制结果和告警，前端无需频繁轮询。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090D8-F03D-4072-A769-0C12602E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476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1D8C4-B778-4437-9DE5-77407B46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演示兜底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0A7E9-A7C1-4E16-BF7C-BD10ED8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529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seed_demo 可生成演示账号、设备和 7 天历史数据，现场硬件异常时仍可展示完整闭环。</a:t>
            </a:r>
          </a:p>
        </p:txBody>
      </p:sp>
    </p:spTree>
    <p:extLst>
      <p:ext uri="{BB962C8B-B14F-4D97-AF65-F5344CB8AC3E}">
        <p14:creationId xmlns:p14="http://schemas.microsoft.com/office/powerpoint/2010/main" val="406870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978E1-30CA-4A01-BAF7-BB40F604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7BCA-D786-4238-8153-C043BEF3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1DB93-32B8-443C-B3D3-DEB2D79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06 前端与用户侧设计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1530D-D8BD-4F2B-868D-D516D783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前端按人群分层，既能展示也能管理设备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838194b6740bd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91450" y="1428750"/>
            <a:ext cx="3143250" cy="23622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742D-714C-41A9-9D7C-2E6B22C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5810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9180D-D0D3-4000-B4E1-F53BD322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9FF"/>
                </a:solidFill>
              </a:defRPr>
            </a:pPr>
            <a:r>
              <a:rPr sz="1875" b="1">
                <a:solidFill>
                  <a:srgbClr val="42D9FF"/>
                </a:solidFill>
              </a:rPr>
              <a:t>大众版 /public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2DE6E-3198-4E5C-BA9A-71CB48C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轻量日常查看、登录注册、设备与建议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975F1-13A4-43B7-8792-B59A9C6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5810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B6C1E-8823-448F-9434-EFBFE1E7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9FF"/>
                </a:solidFill>
              </a:defRPr>
            </a:pPr>
            <a:r>
              <a:rPr sz="1875" b="1">
                <a:solidFill>
                  <a:srgbClr val="42D9FF"/>
                </a:solidFill>
              </a:rPr>
              <a:t>长辈版 /senior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27640-E278-468D-B60B-552625FE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大字号、简化交互、状态与健康建议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4B8CD-83D8-44DD-8139-BDACBB3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5810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45E05-3637-4E4E-906A-5E4136AC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9FF"/>
                </a:solidFill>
              </a:defRPr>
            </a:pPr>
            <a:r>
              <a:rPr sz="1875" b="1">
                <a:solidFill>
                  <a:srgbClr val="42D9FF"/>
                </a:solidFill>
              </a:rPr>
              <a:t>青少年控制台 /teen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5EA0F-7AE7-489A-A3DA-3F091BD7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实时数据、设备管理、远程控制、AI 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357B1-A7A5-48A2-AC2B-96270FE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AF7A9-F08D-44DA-A271-A002CBC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7"/>
                </a:solidFill>
              </a:defRPr>
            </a:pPr>
            <a:r>
              <a:rPr sz="1350" b="0">
                <a:solidFill>
                  <a:srgbClr val="A7B3C7"/>
                </a:solidFill>
              </a:rPr>
              <a:t>Vue 3 + TypeScript + Vite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FFD9-11AE-46DF-8518-1052DD3D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8BAF0-78BE-4CB7-B805-5442292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7"/>
                </a:solidFill>
              </a:defRPr>
            </a:pPr>
            <a:r>
              <a:rPr sz="1350" b="0">
                <a:solidFill>
                  <a:srgbClr val="A7B3C7"/>
                </a:solidFill>
              </a:rPr>
              <a:t>WebSocket 实时数据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7E56A-4DA4-4DC4-9A60-457EC7E2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9B851-2B66-4143-A348-62009F0E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339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7"/>
                </a:solidFill>
              </a:defRPr>
            </a:pPr>
            <a:r>
              <a:rPr sz="1350" b="0">
                <a:solidFill>
                  <a:srgbClr val="A7B3C7"/>
                </a:solidFill>
              </a:rPr>
              <a:t>Element Plus / ECharts 按需加载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A9DCF-5571-4C0D-9616-73868EE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72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01462-D587-43E6-8EB5-69DEC1E1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9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7"/>
                </a:solidFill>
              </a:defRPr>
            </a:pPr>
            <a:r>
              <a:rPr sz="1350" b="0">
                <a:solidFill>
                  <a:srgbClr val="A7B3C7"/>
                </a:solidFill>
              </a:rPr>
              <a:t>首屏浮动式魔方加载动画</a:t>
            </a:r>
          </a:p>
        </p:txBody>
      </p:sp>
    </p:spTree>
    <p:extLst>
      <p:ext uri="{BB962C8B-B14F-4D97-AF65-F5344CB8AC3E}">
        <p14:creationId xmlns:p14="http://schemas.microsoft.com/office/powerpoint/2010/main" val="165920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6F6FF-07C8-426F-BA60-508CCCA4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198BE-025D-45A3-9CD1-40DD793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C55C4-16F0-4985-885F-803DC8B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07 小眠角色交互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B4E21-1603-4FA3-AB3F-F2F019F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小眠是角色化状态反馈，不是普通装饰图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95ee4c416478a"/>
          <a:stretch xmlns:a="http://schemas.openxmlformats.org/drawingml/2006/main"/>
        </p:blipFill>
        <p:spPr>
          <a:xfrm xmlns:a="http://schemas.openxmlformats.org/drawingml/2006/main">
            <a:off x="1047750" y="1638300"/>
            <a:ext cx="2381250" cy="23812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c53f0511b4837"/>
          <a:stretch xmlns:a="http://schemas.openxmlformats.org/drawingml/2006/main"/>
        </p:blipFill>
        <p:spPr>
          <a:xfrm xmlns:a="http://schemas.openxmlformats.org/drawingml/2006/main">
            <a:off x="4838700" y="1638300"/>
            <a:ext cx="2381250" cy="23812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8cad513034a2a"/>
          <a:stretch xmlns:a="http://schemas.openxmlformats.org/drawingml/2006/main"/>
        </p:blipFill>
        <p:spPr>
          <a:xfrm xmlns:a="http://schemas.openxmlformats.org/drawingml/2006/main">
            <a:off x="8629650" y="16383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F5E84-4363-40AE-928C-D173B7D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状态良好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F6FB1-E3F0-4382-B5AD-76FEB4C0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专注陪伴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33630-C1F3-4B23-BEF8-01B4BA4E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4444"/>
                </a:solidFill>
              </a:defRPr>
            </a:pPr>
            <a:r>
              <a:rPr sz="1800" b="1">
                <a:solidFill>
                  <a:srgbClr val="EF4444"/>
                </a:solidFill>
              </a:rPr>
              <a:t>严重告警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3BE41-AFD0-4A54-A82F-C31F336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8FAFC"/>
                </a:solidFill>
              </a:defRPr>
            </a:pPr>
            <a:r>
              <a:rPr sz="1800" b="0">
                <a:solidFill>
                  <a:srgbClr val="F8FAFC"/>
                </a:solidFill>
              </a:rPr>
              <a:t>角色与 AQI、eCO2、TVOC、温湿度和专注状态绑定；同时承担菜单向导与轻量反馈。</a:t>
            </a:r>
          </a:p>
        </p:txBody>
      </p:sp>
    </p:spTree>
    <p:extLst>
      <p:ext uri="{BB962C8B-B14F-4D97-AF65-F5344CB8AC3E}">
        <p14:creationId xmlns:p14="http://schemas.microsoft.com/office/powerpoint/2010/main" val="793302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5E694-B1CC-4DF6-A6FD-ABE8702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5EA9E-B2E7-4B72-8D62-A247C562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D6AB5-B9F6-49AA-9D42-F8B5357B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08 外壳工程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9E043-76BC-4F90-9981-1154B3C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结构设计优先解决装配、固定、通风和接口可用性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f53d166f644cd"/>
          <a:srcRect xmlns:a="http://schemas.openxmlformats.org/drawingml/2006/main" l="169" t="0" r="1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85900"/>
            <a:ext cx="561975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1B6BB-3076-43E1-889C-105D9857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F3CB7-A788-4F58-8D42-B02E92C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573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正面前壳压住显示屏，屏幕凹槽加深，降低按压位移。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65DF4-2175-484D-985B-F76849DA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6764E-8D7A-40E6-975F-E00C92E9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侧边滑块留出屏幕与杜邦线插入路径，方便安装维护。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1634C-86D5-4D26-ACF3-76C7B5FD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F97C0-2EF0-42D3-ABF6-156EE3F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后盖开 Type-C / DC 接口区，主体与后壳螺丝孔为真实通孔。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786CB-9E5A-496B-9966-092EB27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E76CD-6561-49EC-A335-942FBE2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后壳和侧边增加百叶通风，顶部透明窗用于光照传感。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C1C74-D15C-4A0C-AF45-8598F30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13E54-1993-459C-BC9D-7349E0AA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上层模块平台加边缘支撑，避免打印后悬空结构脱落。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06D58-DB85-4C18-8CA5-61CEA68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59E0B"/>
                </a:solidFill>
              </a:defRPr>
            </a:pPr>
            <a:r>
              <a:rPr sz="1500" b="0">
                <a:solidFill>
                  <a:srgbClr val="F59E0B"/>
                </a:solidFill>
              </a:rPr>
              <a:t>顶部透明窗建议材料：1.5-2.0mm 透明亚克力；需要更抗冲击时可换透明 PC。</a:t>
            </a:r>
          </a:p>
        </p:txBody>
      </p:sp>
    </p:spTree>
    <p:extLst>
      <p:ext uri="{BB962C8B-B14F-4D97-AF65-F5344CB8AC3E}">
        <p14:creationId xmlns:p14="http://schemas.microsoft.com/office/powerpoint/2010/main" val="2107514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DCEAB2-10CD-4FEB-811E-FE889A54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8A604-B1DA-4BD7-9200-6962659B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76F3D-CEBD-406E-B2AB-923DA789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09 演示路径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5D1D2-9E5B-4DFB-A64A-B726C35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答辩演示按“硬件实物 + 网页后台 + 备份数据”三线准备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D07D2-4FDB-4DB6-BF95-FEEADDD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9621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6F094-5D9B-45F3-8250-4E324B03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开机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D5070-B05F-4CE8-BD93-E520C1F5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小眠启动 / 模块加载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D93B2-C080-4277-8551-9F847D5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6AE19-4893-4BEF-8C31-4F1FE9D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14500"/>
            <a:ext cx="19621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FBE62-DFE5-4FD0-9E6B-9468ADAD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监测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EF87A-43FB-4BDF-81C2-E4D02FA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温湿度 / 空气 / 光照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75FB2-228A-4B0B-B43F-1FFB2BA5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304CF-7F0D-40D2-BAD2-833C5AA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14500"/>
            <a:ext cx="19621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86124-86FE-4434-A8A2-231E41D4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专注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7CD20-BFF2-4A10-BBDE-CB6649C1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雷达存在检测触发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9A0DB-8D2F-4068-BCCC-C1D51A4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0AAB5-FF41-4898-8C93-6C1E430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9621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21C01-903B-4D64-AA31-5ABC06C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85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网页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5CA81-C1E4-4FA9-940E-C9A88CF4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实时数据 / 控制 /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02B83-DE35-4A94-82F8-92251DE7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9FF"/>
                </a:solidFill>
              </a:defRPr>
            </a:pPr>
            <a:r>
              <a:rPr sz="1800" b="1">
                <a:solidFill>
                  <a:srgbClr val="42D9FF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CB91F-CC1A-4D49-852B-EA168668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14500"/>
            <a:ext cx="19621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49BC8-E4E0-420D-8842-9C96527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85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OTA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6C726-6024-4C80-9FAB-D9D6B83D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9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3C7"/>
                </a:solidFill>
              </a:defRPr>
            </a:pPr>
            <a:r>
              <a:rPr sz="1125" b="0">
                <a:solidFill>
                  <a:srgbClr val="A7B3C7"/>
                </a:solidFill>
              </a:rPr>
              <a:t>版本检查与更新链路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C19AE-2366-4A4B-B153-231AA936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45148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72666-FD0D-43AD-B81E-27AF0656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</a:defRPr>
            </a:pPr>
            <a:r>
              <a:rPr sz="1950" b="1">
                <a:solidFill>
                  <a:srgbClr val="22C55E"/>
                </a:solidFill>
              </a:rPr>
              <a:t>现场主线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8B9DA-6E27-46CB-A3C8-17CF464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实物展示设备采集、屏幕 UI、人体存在触发专注模式。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D46E9-CCEA-4D24-8ECE-7DC6C96A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5148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44675-DB85-47D4-B444-F9F88BD6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</a:defRPr>
            </a:pPr>
            <a:r>
              <a:rPr sz="1950" b="1">
                <a:solidFill>
                  <a:srgbClr val="F59E0B"/>
                </a:solidFill>
              </a:rPr>
              <a:t>备用主线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45B15-EF12-4441-92E1-7546A636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前端一键演示与后端 seed_demo 数据，避免现场网络或硬件不稳定影响答辩。</a:t>
            </a:r>
          </a:p>
        </p:txBody>
      </p:sp>
    </p:spTree>
    <p:extLst>
      <p:ext uri="{BB962C8B-B14F-4D97-AF65-F5344CB8AC3E}">
        <p14:creationId xmlns:p14="http://schemas.microsoft.com/office/powerpoint/2010/main" val="443724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F602B-C592-4137-86F8-A9E5F15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26300-70BB-48CD-A019-1C39D55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807C2-8C3A-42CB-B21C-1FFDFB6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10 特色与创新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46432-21EB-422C-95DA-4C2267C6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创新点集中在端云闭环、角色交互和工程可落地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8DEA9-7291-47B4-928F-23667950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0537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71EC8-5640-4469-90A4-D5CF1F00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66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D9FF"/>
                </a:solidFill>
              </a:defRPr>
            </a:pPr>
            <a:r>
              <a:rPr sz="2025" b="1">
                <a:solidFill>
                  <a:srgbClr val="42D9FF"/>
                </a:solidFill>
              </a:rPr>
              <a:t>感知到行动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68075-3725-45C7-B47D-B939E004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从单纯显示数据升级为环境判断、提醒、记录和控制闭环。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F9424-8F88-4568-957A-06E1DDA9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490537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CE2C2-5302-4D34-887D-349D3428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66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C55E"/>
                </a:solidFill>
              </a:defRPr>
            </a:pPr>
            <a:r>
              <a:rPr sz="2025" b="1">
                <a:solidFill>
                  <a:srgbClr val="22C55E"/>
                </a:solidFill>
              </a:rPr>
              <a:t>小眠角色化反馈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A35B1-566B-4BC7-ACF7-3A38A2DA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86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用二次元角色表达状态、告警和专注陪伴，提升识别度。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9CCBC-F400-4147-B614-5365908C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90537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C16DB-14E1-4DE1-B41C-25892051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D9FF"/>
                </a:solidFill>
              </a:defRPr>
            </a:pPr>
            <a:r>
              <a:rPr sz="2025" b="1">
                <a:solidFill>
                  <a:srgbClr val="42D9FF"/>
                </a:solidFill>
              </a:rPr>
              <a:t>多群体前端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CB942-E9D6-4B87-A023-EB5D036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大众、青少年、老年三套入口适配不同使用习惯。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80D5A-9A19-437E-ABD7-00DDD03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14700"/>
            <a:ext cx="490537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B639D-679A-41D5-95D4-6D3F56F8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C55E"/>
                </a:solidFill>
              </a:defRPr>
            </a:pPr>
            <a:r>
              <a:rPr sz="2025" b="1">
                <a:solidFill>
                  <a:srgbClr val="22C55E"/>
                </a:solidFill>
              </a:rPr>
              <a:t>模块化结构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83FE3-8B2B-44F2-B0F0-D427ED83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00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卡槽、走线、通风、透明窗和接口开孔围绕真实装配设计。</a:t>
            </a:r>
          </a:p>
        </p:txBody>
      </p:sp>
    </p:spTree>
    <p:extLst>
      <p:ext uri="{BB962C8B-B14F-4D97-AF65-F5344CB8AC3E}">
        <p14:creationId xmlns:p14="http://schemas.microsoft.com/office/powerpoint/2010/main" val="350587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A65C7-0AFB-4FF6-8E3C-22BA50DC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B8946-4D13-41D7-9909-7696AE70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F794-C8BA-4046-B7C0-5B86BEFB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9FF"/>
                </a:solidFill>
              </a:defRPr>
            </a:pPr>
            <a:r>
              <a:rPr sz="1200" b="1">
                <a:solidFill>
                  <a:srgbClr val="42D9FF"/>
                </a:solidFill>
              </a:rPr>
              <a:t>11 当前成果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9FB12-F97F-4A59-9BF8-A89DA5D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当前成果已经形成可提交、可演示、可继续打磨的作品包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4110B-3E37-4C19-842F-8DED291B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34B32-D625-4214-91A9-0A0AB881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硬件端：ESP32-S3 工程、LVGL 页面、传感器采集、专注模式、OTA 屏幕流程。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EB09A-AAFB-453F-AA1B-296B212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12D-FC00-4BF9-9399-3AED7FB9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后端：FastAPI 服务、设备/数据/控制/OTA/AI 接口和自动化测试。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F0A11-4259-4C5B-9B2F-7C10B38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8B3A6-534E-400E-A6FF-7E5F74E7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前端：三套入口、实时数据、控制台、AI 分析、日志中心和演示模式。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7A80B-D0C3-403D-942A-BFBD4DFF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E928E-A5F0-4738-8381-4A0ADA4D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视觉：小眠角色状态、菜单向导和开机/页面过渡动画资源。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36C4F-784B-4951-A82E-86B99BA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5EC8C-C82A-4CC4-B57E-46F868CB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结构：v25 可插入式模块外壳、前壳、侧滑块、后盖、透明顶窗。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6E685-1A72-40AC-8F08-FA1111FA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59E0B"/>
                </a:solidFill>
              </a:defRPr>
            </a:pPr>
            <a:r>
              <a:rPr sz="1425" b="0">
                <a:solidFill>
                  <a:srgbClr val="F59E0B"/>
                </a:solidFill>
              </a:rPr>
              <a:t>保留项需要如实说明：部分智能家居、蓝牙灯、语音/微信等接口属于预留或后续扩展，不作为当前主演示能力。</a:t>
            </a:r>
          </a:p>
        </p:txBody>
      </p:sp>
    </p:spTree>
    <p:extLst>
      <p:ext uri="{BB962C8B-B14F-4D97-AF65-F5344CB8AC3E}">
        <p14:creationId xmlns:p14="http://schemas.microsoft.com/office/powerpoint/2010/main" val="1194370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3C814-2470-49FE-A406-44581F8E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A19BF-62C0-426E-925D-9BE2878D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F"/>
          </a:solidFill>
          <a:ln xmlns:a="http://schemas.openxmlformats.org/drawingml/2006/main" w="0">
            <a:solidFill>
              <a:srgbClr val="42D9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E7F95-4A0D-4DF2-BB6C-F37EE173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谢谢各位评委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9D9E-A61B-4482-B5D5-212E6C8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智能桌面魔方把桌面环境监测，从“看到数据”推进到“理解状态并辅助行动”。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F5433-DEB7-4705-8F28-12AE2456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2036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C55E"/>
                </a:solidFill>
              </a:defRPr>
            </a:pPr>
            <a:r>
              <a:rPr sz="1275" b="1">
                <a:solidFill>
                  <a:srgbClr val="22C55E"/>
                </a:solidFill>
              </a:rPr>
              <a:t>Q&amp;A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e5a58689743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143000"/>
            <a:ext cx="3048000" cy="3048000"/>
          </a:xfrm>
          <a:prstGeom xmlns:a="http://schemas.openxmlformats.org/drawingml/2006/main" prst="ellipse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E8360-50A1-4FD5-BA08-F6643339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7"/>
                </a:solidFill>
              </a:defRPr>
            </a:pPr>
            <a:r>
              <a:rPr sz="1575" b="0">
                <a:solidFill>
                  <a:srgbClr val="A7B3C7"/>
                </a:solidFill>
              </a:rPr>
              <a:t>建议现场回答重点：完成范围、AI 使用边界、外壳装配、演示备份方案。</a:t>
            </a:r>
          </a:p>
        </p:txBody>
      </p:sp>
    </p:spTree>
    <p:extLst>
      <p:ext uri="{BB962C8B-B14F-4D97-AF65-F5344CB8AC3E}">
        <p14:creationId xmlns:p14="http://schemas.microsoft.com/office/powerpoint/2010/main" val="959987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2026-08-08T16:19:24.2230000Z</dcterms:created>
  <dcterms:modified xsi:type="dcterms:W3CDTF">2026-08-08T16:19:24.2230000Z</dcterms:modified>
</coreProperties>
</file>